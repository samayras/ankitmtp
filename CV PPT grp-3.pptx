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18288000" cy="10287000"/>
  <p:embeddedFontLst>
    <p:embeddedFont>
      <p:font typeface="Tahom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Tahoma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ef2c13075_1_1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fef2c13075_1_1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ee44e6c66_7_1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ee44e6c66_7_1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ee44e6c66_7_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ee44e6c66_7_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ef2c13075_1_7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fef2c13075_1_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ef2c13075_0_1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2fef2c13075_0_1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dbd987d9f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0dbd987d9f_0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ef2c13075_0_2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fef2c13075_0_2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42818" y="925920"/>
            <a:ext cx="1935826" cy="2705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656961" y="3865315"/>
            <a:ext cx="16593819" cy="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2701843" y="5921224"/>
            <a:ext cx="12884313" cy="16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512039" y="7976615"/>
            <a:ext cx="4437887" cy="579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3" y="643127"/>
            <a:ext cx="5227319" cy="68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1585026" y="33263"/>
            <a:ext cx="15720403" cy="141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36874" y="1958254"/>
            <a:ext cx="16893540" cy="694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8286730" cy="1664335"/>
          </a:xfrm>
          <a:custGeom>
            <a:rect b="b" l="l" r="r" t="t"/>
            <a:pathLst>
              <a:path extrusionOk="0" h="1664335" w="18286730">
                <a:moveTo>
                  <a:pt x="18286424" y="1664175"/>
                </a:moveTo>
                <a:lnTo>
                  <a:pt x="0" y="1664175"/>
                </a:lnTo>
                <a:lnTo>
                  <a:pt x="0" y="0"/>
                </a:lnTo>
                <a:lnTo>
                  <a:pt x="18286424" y="0"/>
                </a:lnTo>
                <a:lnTo>
                  <a:pt x="18286424" y="1664175"/>
                </a:lnTo>
                <a:close/>
              </a:path>
            </a:pathLst>
          </a:custGeom>
          <a:solidFill>
            <a:srgbClr val="EFED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1585026" y="33263"/>
            <a:ext cx="15720403" cy="141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1585026" y="33263"/>
            <a:ext cx="15720403" cy="141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8288000" cy="1478280"/>
          </a:xfrm>
          <a:custGeom>
            <a:rect b="b" l="l" r="r" t="t"/>
            <a:pathLst>
              <a:path extrusionOk="0" h="1478280" w="18288000">
                <a:moveTo>
                  <a:pt x="0" y="0"/>
                </a:moveTo>
                <a:lnTo>
                  <a:pt x="18287999" y="0"/>
                </a:lnTo>
                <a:lnTo>
                  <a:pt x="18287999" y="1477662"/>
                </a:lnTo>
                <a:lnTo>
                  <a:pt x="0" y="1477662"/>
                </a:lnTo>
                <a:lnTo>
                  <a:pt x="0" y="0"/>
                </a:lnTo>
                <a:close/>
              </a:path>
            </a:pathLst>
          </a:custGeom>
          <a:solidFill>
            <a:srgbClr val="EFED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585026" y="33263"/>
            <a:ext cx="15720403" cy="141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736874" y="1958254"/>
            <a:ext cx="16893540" cy="694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ctrTitle"/>
          </p:nvPr>
        </p:nvSpPr>
        <p:spPr>
          <a:xfrm>
            <a:off x="0" y="4296575"/>
            <a:ext cx="184824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463415" lvl="0" marL="4475480" marR="5080" rtl="0" algn="ctr">
              <a:lnSpc>
                <a:spcPct val="11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>
                <a:latin typeface="Verdana"/>
                <a:ea typeface="Verdana"/>
                <a:cs typeface="Verdana"/>
                <a:sym typeface="Verdana"/>
              </a:rPr>
              <a:t>ATAL BIHARI VAJPAYEE- INDIAN INSTITUTE OF INFORMATION TECHNOLOGY MANAGEMENT </a:t>
            </a:r>
            <a:r>
              <a:rPr b="1" i="1" lang="en-US" sz="3400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b="1" i="1" lang="en-US" sz="2700">
                <a:latin typeface="Verdana"/>
                <a:ea typeface="Verdana"/>
                <a:cs typeface="Verdana"/>
                <a:sym typeface="Verdana"/>
              </a:rPr>
              <a:t>GWALIOR</a:t>
            </a:r>
            <a:endParaRPr b="1" i="1" sz="27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" name="Google Shape;49;p7"/>
          <p:cNvSpPr txBox="1"/>
          <p:nvPr>
            <p:ph idx="1" type="subTitle"/>
          </p:nvPr>
        </p:nvSpPr>
        <p:spPr>
          <a:xfrm>
            <a:off x="3285618" y="5957074"/>
            <a:ext cx="128844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91185" lvl="0" marL="603250" marR="5080" rtl="0" algn="l">
              <a:lnSpc>
                <a:spcPct val="115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latin typeface="Calibri"/>
                <a:ea typeface="Calibri"/>
                <a:cs typeface="Calibri"/>
                <a:sym typeface="Calibri"/>
              </a:rPr>
              <a:t>ECG-Based Heart Arrhythmia Diagnosis Through</a:t>
            </a:r>
            <a:endParaRPr sz="4700">
              <a:latin typeface="Calibri"/>
              <a:ea typeface="Calibri"/>
              <a:cs typeface="Calibri"/>
              <a:sym typeface="Calibri"/>
            </a:endParaRPr>
          </a:p>
          <a:p>
            <a:pPr indent="-591185" lvl="0" marL="603250" marR="5080" rtl="0" algn="l">
              <a:lnSpc>
                <a:spcPct val="115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latin typeface="Calibri"/>
                <a:ea typeface="Calibri"/>
                <a:cs typeface="Calibri"/>
                <a:sym typeface="Calibri"/>
              </a:rPr>
              <a:t>    Attentional Convolutional Neural Networks</a:t>
            </a:r>
            <a:endParaRPr sz="4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/>
        </p:nvSpPr>
        <p:spPr>
          <a:xfrm>
            <a:off x="4608724" y="1317175"/>
            <a:ext cx="41514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3050">
            <a:spAutoFit/>
          </a:bodyPr>
          <a:lstStyle/>
          <a:p>
            <a:pPr indent="0" lvl="0" marL="43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2021IMT-0</a:t>
            </a:r>
            <a:r>
              <a:rPr lang="en-US" sz="3400"/>
              <a:t>45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36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2021IMT-0</a:t>
            </a:r>
            <a:r>
              <a:rPr lang="en-US" sz="3400"/>
              <a:t>88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43815" rtl="0" algn="l">
              <a:lnSpc>
                <a:spcPct val="100000"/>
              </a:lnSpc>
              <a:spcBef>
                <a:spcPts val="1789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2021IMT</a:t>
            </a:r>
            <a:r>
              <a:rPr lang="en-US" sz="3400">
                <a:latin typeface="Arial"/>
                <a:ea typeface="Arial"/>
                <a:cs typeface="Arial"/>
                <a:sym typeface="Arial"/>
              </a:rPr>
              <a:t>-0</a:t>
            </a:r>
            <a:r>
              <a:rPr lang="en-US" sz="3400"/>
              <a:t>89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2021IMT-0</a:t>
            </a:r>
            <a:r>
              <a:rPr lang="en-US" sz="3400"/>
              <a:t>94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40640" rtl="0" algn="l">
              <a:lnSpc>
                <a:spcPct val="100000"/>
              </a:lnSpc>
              <a:spcBef>
                <a:spcPts val="1765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 txBox="1"/>
          <p:nvPr/>
        </p:nvSpPr>
        <p:spPr>
          <a:xfrm>
            <a:off x="528950" y="1568075"/>
            <a:ext cx="45099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5715" lvl="0" marL="13334" marR="174752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Ipsa Badoniya</a:t>
            </a:r>
            <a:endParaRPr sz="3400"/>
          </a:p>
          <a:p>
            <a:pPr indent="5715" lvl="0" marL="13334" marR="174752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Shail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-3175" lvl="0" marL="15240" marR="5080" rtl="0" algn="l">
              <a:lnSpc>
                <a:spcPct val="187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Shalini Kumari</a:t>
            </a:r>
            <a:endParaRPr sz="3400"/>
          </a:p>
          <a:p>
            <a:pPr indent="-3175" lvl="0" marL="15240" marR="5080" rtl="0" algn="l">
              <a:lnSpc>
                <a:spcPct val="187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Shruti Murthy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12051913" y="8714221"/>
            <a:ext cx="546036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Prof. Mahua Bhattacharya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0" y="0"/>
            <a:ext cx="5921375" cy="10287000"/>
          </a:xfrm>
          <a:custGeom>
            <a:rect b="b" l="l" r="r" t="t"/>
            <a:pathLst>
              <a:path extrusionOk="0" h="10287000" w="5921375">
                <a:moveTo>
                  <a:pt x="0" y="0"/>
                </a:moveTo>
                <a:lnTo>
                  <a:pt x="5921212" y="0"/>
                </a:lnTo>
                <a:lnTo>
                  <a:pt x="59212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FED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6422154" y="644666"/>
            <a:ext cx="0" cy="9319260"/>
          </a:xfrm>
          <a:custGeom>
            <a:rect b="b" l="l" r="r" t="t"/>
            <a:pathLst>
              <a:path extrusionOk="0" h="9319260" w="120000">
                <a:moveTo>
                  <a:pt x="0" y="0"/>
                </a:moveTo>
                <a:lnTo>
                  <a:pt x="0" y="9318694"/>
                </a:lnTo>
              </a:path>
            </a:pathLst>
          </a:custGeom>
          <a:noFill/>
          <a:ln cap="flat" cmpd="sng" w="380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704494" y="3908919"/>
            <a:ext cx="4513580" cy="5206365"/>
          </a:xfrm>
          <a:custGeom>
            <a:rect b="b" l="l" r="r" t="t"/>
            <a:pathLst>
              <a:path extrusionOk="0" h="5206365" w="4513580">
                <a:moveTo>
                  <a:pt x="694334" y="607542"/>
                </a:moveTo>
                <a:lnTo>
                  <a:pt x="520750" y="607542"/>
                </a:lnTo>
                <a:lnTo>
                  <a:pt x="520750" y="781126"/>
                </a:lnTo>
                <a:lnTo>
                  <a:pt x="694334" y="781126"/>
                </a:lnTo>
                <a:lnTo>
                  <a:pt x="694334" y="607542"/>
                </a:lnTo>
                <a:close/>
              </a:path>
              <a:path extrusionOk="0" h="5206365" w="4513580">
                <a:moveTo>
                  <a:pt x="1301877" y="2169782"/>
                </a:moveTo>
                <a:lnTo>
                  <a:pt x="520750" y="2169782"/>
                </a:lnTo>
                <a:lnTo>
                  <a:pt x="520750" y="2343366"/>
                </a:lnTo>
                <a:lnTo>
                  <a:pt x="1301877" y="2343366"/>
                </a:lnTo>
                <a:lnTo>
                  <a:pt x="1301877" y="2169782"/>
                </a:lnTo>
                <a:close/>
              </a:path>
              <a:path extrusionOk="0" h="5206365" w="4513580">
                <a:moveTo>
                  <a:pt x="1475460" y="607542"/>
                </a:moveTo>
                <a:lnTo>
                  <a:pt x="867918" y="607542"/>
                </a:lnTo>
                <a:lnTo>
                  <a:pt x="867918" y="781126"/>
                </a:lnTo>
                <a:lnTo>
                  <a:pt x="1475460" y="781126"/>
                </a:lnTo>
                <a:lnTo>
                  <a:pt x="1475460" y="607542"/>
                </a:lnTo>
                <a:close/>
              </a:path>
              <a:path extrusionOk="0" h="5206365" w="4513580">
                <a:moveTo>
                  <a:pt x="1562239" y="3471659"/>
                </a:moveTo>
                <a:lnTo>
                  <a:pt x="520750" y="3471659"/>
                </a:lnTo>
                <a:lnTo>
                  <a:pt x="520750" y="3645243"/>
                </a:lnTo>
                <a:lnTo>
                  <a:pt x="1562239" y="3645243"/>
                </a:lnTo>
                <a:lnTo>
                  <a:pt x="1562239" y="3471659"/>
                </a:lnTo>
                <a:close/>
              </a:path>
              <a:path extrusionOk="0" h="5206365" w="4513580">
                <a:moveTo>
                  <a:pt x="1562239" y="2516949"/>
                </a:moveTo>
                <a:lnTo>
                  <a:pt x="520750" y="2516949"/>
                </a:lnTo>
                <a:lnTo>
                  <a:pt x="520750" y="2690533"/>
                </a:lnTo>
                <a:lnTo>
                  <a:pt x="1562239" y="2690533"/>
                </a:lnTo>
                <a:lnTo>
                  <a:pt x="1562239" y="2516949"/>
                </a:lnTo>
                <a:close/>
              </a:path>
              <a:path extrusionOk="0" h="5206365" w="4513580">
                <a:moveTo>
                  <a:pt x="1562252" y="1822615"/>
                </a:moveTo>
                <a:lnTo>
                  <a:pt x="520750" y="1822615"/>
                </a:lnTo>
                <a:lnTo>
                  <a:pt x="520750" y="1996198"/>
                </a:lnTo>
                <a:lnTo>
                  <a:pt x="1562252" y="1996198"/>
                </a:lnTo>
                <a:lnTo>
                  <a:pt x="1562252" y="1822615"/>
                </a:lnTo>
                <a:close/>
              </a:path>
              <a:path extrusionOk="0" h="5206365" w="4513580">
                <a:moveTo>
                  <a:pt x="1909419" y="1475460"/>
                </a:moveTo>
                <a:lnTo>
                  <a:pt x="520750" y="1475460"/>
                </a:lnTo>
                <a:lnTo>
                  <a:pt x="520750" y="1649044"/>
                </a:lnTo>
                <a:lnTo>
                  <a:pt x="1909419" y="1649044"/>
                </a:lnTo>
                <a:lnTo>
                  <a:pt x="1909419" y="1475460"/>
                </a:lnTo>
                <a:close/>
              </a:path>
              <a:path extrusionOk="0" h="5206365" w="4513580">
                <a:moveTo>
                  <a:pt x="2256586" y="3818826"/>
                </a:moveTo>
                <a:lnTo>
                  <a:pt x="520750" y="3818826"/>
                </a:lnTo>
                <a:lnTo>
                  <a:pt x="520750" y="3992410"/>
                </a:lnTo>
                <a:lnTo>
                  <a:pt x="2256586" y="3992410"/>
                </a:lnTo>
                <a:lnTo>
                  <a:pt x="2256586" y="3818826"/>
                </a:lnTo>
                <a:close/>
              </a:path>
              <a:path extrusionOk="0" h="5206365" w="4513580">
                <a:moveTo>
                  <a:pt x="2256586" y="2864116"/>
                </a:moveTo>
                <a:lnTo>
                  <a:pt x="520750" y="2864116"/>
                </a:lnTo>
                <a:lnTo>
                  <a:pt x="520750" y="3037700"/>
                </a:lnTo>
                <a:lnTo>
                  <a:pt x="2256586" y="3037700"/>
                </a:lnTo>
                <a:lnTo>
                  <a:pt x="2256586" y="2864116"/>
                </a:lnTo>
                <a:close/>
              </a:path>
              <a:path extrusionOk="0" h="5206365" w="4513580">
                <a:moveTo>
                  <a:pt x="3124492" y="1128293"/>
                </a:moveTo>
                <a:lnTo>
                  <a:pt x="520750" y="1128293"/>
                </a:lnTo>
                <a:lnTo>
                  <a:pt x="520750" y="1301877"/>
                </a:lnTo>
                <a:lnTo>
                  <a:pt x="3124492" y="1301877"/>
                </a:lnTo>
                <a:lnTo>
                  <a:pt x="3124492" y="1128293"/>
                </a:lnTo>
                <a:close/>
              </a:path>
              <a:path extrusionOk="0" h="5206365" w="4513580">
                <a:moveTo>
                  <a:pt x="3645243" y="81089"/>
                </a:moveTo>
                <a:lnTo>
                  <a:pt x="3633787" y="43307"/>
                </a:lnTo>
                <a:lnTo>
                  <a:pt x="3601936" y="11455"/>
                </a:lnTo>
                <a:lnTo>
                  <a:pt x="3564153" y="0"/>
                </a:lnTo>
                <a:lnTo>
                  <a:pt x="81089" y="0"/>
                </a:lnTo>
                <a:lnTo>
                  <a:pt x="43307" y="11455"/>
                </a:lnTo>
                <a:lnTo>
                  <a:pt x="11455" y="43307"/>
                </a:lnTo>
                <a:lnTo>
                  <a:pt x="0" y="81089"/>
                </a:lnTo>
                <a:lnTo>
                  <a:pt x="0" y="4605655"/>
                </a:lnTo>
                <a:lnTo>
                  <a:pt x="11455" y="4643437"/>
                </a:lnTo>
                <a:lnTo>
                  <a:pt x="43307" y="4675276"/>
                </a:lnTo>
                <a:lnTo>
                  <a:pt x="81089" y="4686744"/>
                </a:lnTo>
                <a:lnTo>
                  <a:pt x="2516962" y="4686744"/>
                </a:lnTo>
                <a:lnTo>
                  <a:pt x="2516962" y="4513161"/>
                </a:lnTo>
                <a:lnTo>
                  <a:pt x="173583" y="4513161"/>
                </a:lnTo>
                <a:lnTo>
                  <a:pt x="173583" y="173583"/>
                </a:lnTo>
                <a:lnTo>
                  <a:pt x="3471659" y="173583"/>
                </a:lnTo>
                <a:lnTo>
                  <a:pt x="3471659" y="1215085"/>
                </a:lnTo>
                <a:lnTo>
                  <a:pt x="3645243" y="1215085"/>
                </a:lnTo>
                <a:lnTo>
                  <a:pt x="3645243" y="81089"/>
                </a:lnTo>
                <a:close/>
              </a:path>
              <a:path extrusionOk="0" h="5206365" w="4513580">
                <a:moveTo>
                  <a:pt x="4513161" y="2246973"/>
                </a:moveTo>
                <a:lnTo>
                  <a:pt x="4512856" y="2234273"/>
                </a:lnTo>
                <a:lnTo>
                  <a:pt x="4512462" y="2234273"/>
                </a:lnTo>
                <a:lnTo>
                  <a:pt x="4511903" y="2221573"/>
                </a:lnTo>
                <a:lnTo>
                  <a:pt x="4511205" y="2221573"/>
                </a:lnTo>
                <a:lnTo>
                  <a:pt x="4510341" y="2208873"/>
                </a:lnTo>
                <a:lnTo>
                  <a:pt x="4509325" y="2208873"/>
                </a:lnTo>
                <a:lnTo>
                  <a:pt x="4508157" y="2196173"/>
                </a:lnTo>
                <a:lnTo>
                  <a:pt x="4506836" y="2196173"/>
                </a:lnTo>
                <a:lnTo>
                  <a:pt x="4505363" y="2183473"/>
                </a:lnTo>
                <a:lnTo>
                  <a:pt x="4503737" y="2183473"/>
                </a:lnTo>
                <a:lnTo>
                  <a:pt x="4501947" y="2170773"/>
                </a:lnTo>
                <a:lnTo>
                  <a:pt x="4500016" y="2170773"/>
                </a:lnTo>
                <a:lnTo>
                  <a:pt x="4497946" y="2158073"/>
                </a:lnTo>
                <a:lnTo>
                  <a:pt x="4495711" y="2158073"/>
                </a:lnTo>
                <a:lnTo>
                  <a:pt x="4493336" y="2145373"/>
                </a:lnTo>
                <a:lnTo>
                  <a:pt x="4490821" y="2145373"/>
                </a:lnTo>
                <a:lnTo>
                  <a:pt x="4488167" y="2132673"/>
                </a:lnTo>
                <a:lnTo>
                  <a:pt x="4482414" y="2132673"/>
                </a:lnTo>
                <a:lnTo>
                  <a:pt x="4479341" y="2119973"/>
                </a:lnTo>
                <a:lnTo>
                  <a:pt x="4476115" y="2119973"/>
                </a:lnTo>
                <a:lnTo>
                  <a:pt x="4472762" y="2107273"/>
                </a:lnTo>
                <a:lnTo>
                  <a:pt x="4469282" y="2107273"/>
                </a:lnTo>
                <a:lnTo>
                  <a:pt x="4465663" y="2094572"/>
                </a:lnTo>
                <a:lnTo>
                  <a:pt x="4458055" y="2094572"/>
                </a:lnTo>
                <a:lnTo>
                  <a:pt x="4454055" y="2081872"/>
                </a:lnTo>
                <a:lnTo>
                  <a:pt x="4449940" y="2081872"/>
                </a:lnTo>
                <a:lnTo>
                  <a:pt x="4445711" y="2069172"/>
                </a:lnTo>
                <a:lnTo>
                  <a:pt x="4436897" y="2069172"/>
                </a:lnTo>
                <a:lnTo>
                  <a:pt x="4432325" y="2056472"/>
                </a:lnTo>
                <a:lnTo>
                  <a:pt x="4422864" y="2056472"/>
                </a:lnTo>
                <a:lnTo>
                  <a:pt x="4417974" y="2043772"/>
                </a:lnTo>
                <a:lnTo>
                  <a:pt x="4407890" y="2043772"/>
                </a:lnTo>
                <a:lnTo>
                  <a:pt x="4402709" y="2031072"/>
                </a:lnTo>
                <a:lnTo>
                  <a:pt x="4386643" y="2031072"/>
                </a:lnTo>
                <a:lnTo>
                  <a:pt x="4381131" y="2018372"/>
                </a:lnTo>
                <a:lnTo>
                  <a:pt x="4358310" y="2018372"/>
                </a:lnTo>
                <a:lnTo>
                  <a:pt x="4352429" y="2005672"/>
                </a:lnTo>
                <a:lnTo>
                  <a:pt x="4339577" y="2005672"/>
                </a:lnTo>
                <a:lnTo>
                  <a:pt x="4339577" y="2246973"/>
                </a:lnTo>
                <a:lnTo>
                  <a:pt x="4339577" y="2259673"/>
                </a:lnTo>
                <a:lnTo>
                  <a:pt x="4339018" y="2259673"/>
                </a:lnTo>
                <a:lnTo>
                  <a:pt x="4336796" y="2272373"/>
                </a:lnTo>
                <a:lnTo>
                  <a:pt x="4335157" y="2272373"/>
                </a:lnTo>
                <a:lnTo>
                  <a:pt x="4330789" y="2285073"/>
                </a:lnTo>
                <a:lnTo>
                  <a:pt x="4328122" y="2297773"/>
                </a:lnTo>
                <a:lnTo>
                  <a:pt x="4321784" y="2297773"/>
                </a:lnTo>
                <a:lnTo>
                  <a:pt x="4318190" y="2310473"/>
                </a:lnTo>
                <a:lnTo>
                  <a:pt x="4310126" y="2310473"/>
                </a:lnTo>
                <a:lnTo>
                  <a:pt x="4305744" y="2323173"/>
                </a:lnTo>
                <a:lnTo>
                  <a:pt x="4291266" y="2323173"/>
                </a:lnTo>
                <a:lnTo>
                  <a:pt x="4280738" y="2335873"/>
                </a:lnTo>
                <a:lnTo>
                  <a:pt x="4165993" y="2335873"/>
                </a:lnTo>
                <a:lnTo>
                  <a:pt x="4165993" y="2158073"/>
                </a:lnTo>
                <a:lnTo>
                  <a:pt x="4264126" y="2158073"/>
                </a:lnTo>
                <a:lnTo>
                  <a:pt x="4275315" y="2170773"/>
                </a:lnTo>
                <a:lnTo>
                  <a:pt x="4296270" y="2170773"/>
                </a:lnTo>
                <a:lnTo>
                  <a:pt x="4305744" y="2183473"/>
                </a:lnTo>
                <a:lnTo>
                  <a:pt x="4310126" y="2183473"/>
                </a:lnTo>
                <a:lnTo>
                  <a:pt x="4318190" y="2196173"/>
                </a:lnTo>
                <a:lnTo>
                  <a:pt x="4321784" y="2196173"/>
                </a:lnTo>
                <a:lnTo>
                  <a:pt x="4328122" y="2208873"/>
                </a:lnTo>
                <a:lnTo>
                  <a:pt x="4330789" y="2208873"/>
                </a:lnTo>
                <a:lnTo>
                  <a:pt x="4335157" y="2221573"/>
                </a:lnTo>
                <a:lnTo>
                  <a:pt x="4336796" y="2221573"/>
                </a:lnTo>
                <a:lnTo>
                  <a:pt x="4339018" y="2234273"/>
                </a:lnTo>
                <a:lnTo>
                  <a:pt x="4339577" y="2246973"/>
                </a:lnTo>
                <a:lnTo>
                  <a:pt x="4339577" y="2005672"/>
                </a:lnTo>
                <a:lnTo>
                  <a:pt x="4328376" y="2005672"/>
                </a:lnTo>
                <a:lnTo>
                  <a:pt x="4322229" y="1992972"/>
                </a:lnTo>
                <a:lnTo>
                  <a:pt x="3992410" y="1992972"/>
                </a:lnTo>
                <a:lnTo>
                  <a:pt x="3992410" y="2158073"/>
                </a:lnTo>
                <a:lnTo>
                  <a:pt x="3992410" y="2335873"/>
                </a:lnTo>
                <a:lnTo>
                  <a:pt x="3938778" y="2335873"/>
                </a:lnTo>
                <a:lnTo>
                  <a:pt x="3938778" y="4164673"/>
                </a:lnTo>
                <a:lnTo>
                  <a:pt x="3732034" y="4164673"/>
                </a:lnTo>
                <a:lnTo>
                  <a:pt x="3732034" y="3986873"/>
                </a:lnTo>
                <a:lnTo>
                  <a:pt x="3851986" y="3986873"/>
                </a:lnTo>
                <a:lnTo>
                  <a:pt x="3938778" y="4164673"/>
                </a:lnTo>
                <a:lnTo>
                  <a:pt x="3938778" y="2335873"/>
                </a:lnTo>
                <a:lnTo>
                  <a:pt x="3818826" y="2335873"/>
                </a:lnTo>
                <a:lnTo>
                  <a:pt x="3818826" y="2513673"/>
                </a:lnTo>
                <a:lnTo>
                  <a:pt x="3818826" y="3809073"/>
                </a:lnTo>
                <a:lnTo>
                  <a:pt x="3558451" y="3809073"/>
                </a:lnTo>
                <a:lnTo>
                  <a:pt x="3558451" y="3986873"/>
                </a:lnTo>
                <a:lnTo>
                  <a:pt x="3558451" y="4164673"/>
                </a:lnTo>
                <a:lnTo>
                  <a:pt x="3298075" y="4164673"/>
                </a:lnTo>
                <a:lnTo>
                  <a:pt x="3298075" y="3986873"/>
                </a:lnTo>
                <a:lnTo>
                  <a:pt x="3558451" y="3986873"/>
                </a:lnTo>
                <a:lnTo>
                  <a:pt x="3558451" y="3809073"/>
                </a:lnTo>
                <a:lnTo>
                  <a:pt x="3124492" y="3809073"/>
                </a:lnTo>
                <a:lnTo>
                  <a:pt x="3124492" y="3986873"/>
                </a:lnTo>
                <a:lnTo>
                  <a:pt x="3124492" y="4164673"/>
                </a:lnTo>
                <a:lnTo>
                  <a:pt x="2917761" y="4164673"/>
                </a:lnTo>
                <a:lnTo>
                  <a:pt x="3004553" y="3986873"/>
                </a:lnTo>
                <a:lnTo>
                  <a:pt x="3124492" y="3986873"/>
                </a:lnTo>
                <a:lnTo>
                  <a:pt x="3124492" y="3809073"/>
                </a:lnTo>
                <a:lnTo>
                  <a:pt x="3037700" y="3809073"/>
                </a:lnTo>
                <a:lnTo>
                  <a:pt x="3037700" y="3123273"/>
                </a:lnTo>
                <a:lnTo>
                  <a:pt x="3037471" y="3110573"/>
                </a:lnTo>
                <a:lnTo>
                  <a:pt x="3036747" y="3110573"/>
                </a:lnTo>
                <a:lnTo>
                  <a:pt x="3035566" y="3097873"/>
                </a:lnTo>
                <a:lnTo>
                  <a:pt x="3033890" y="3097873"/>
                </a:lnTo>
                <a:lnTo>
                  <a:pt x="3031769" y="3085173"/>
                </a:lnTo>
                <a:lnTo>
                  <a:pt x="3029216" y="3085173"/>
                </a:lnTo>
                <a:lnTo>
                  <a:pt x="3026219" y="3072473"/>
                </a:lnTo>
                <a:lnTo>
                  <a:pt x="3022790" y="3072473"/>
                </a:lnTo>
                <a:lnTo>
                  <a:pt x="3018967" y="3059773"/>
                </a:lnTo>
                <a:lnTo>
                  <a:pt x="3010255" y="3059773"/>
                </a:lnTo>
                <a:lnTo>
                  <a:pt x="3005366" y="3047073"/>
                </a:lnTo>
                <a:lnTo>
                  <a:pt x="2994749" y="3047073"/>
                </a:lnTo>
                <a:lnTo>
                  <a:pt x="2989072" y="3034373"/>
                </a:lnTo>
                <a:lnTo>
                  <a:pt x="2983153" y="3034373"/>
                </a:lnTo>
                <a:lnTo>
                  <a:pt x="2790939" y="2958173"/>
                </a:lnTo>
                <a:lnTo>
                  <a:pt x="2780703" y="2958173"/>
                </a:lnTo>
                <a:lnTo>
                  <a:pt x="2770644" y="2945473"/>
                </a:lnTo>
                <a:lnTo>
                  <a:pt x="2751086" y="2945473"/>
                </a:lnTo>
                <a:lnTo>
                  <a:pt x="2741612" y="2932773"/>
                </a:lnTo>
                <a:lnTo>
                  <a:pt x="2732367" y="2932773"/>
                </a:lnTo>
                <a:lnTo>
                  <a:pt x="2723350" y="2920073"/>
                </a:lnTo>
                <a:lnTo>
                  <a:pt x="2714574" y="2920073"/>
                </a:lnTo>
                <a:lnTo>
                  <a:pt x="2706052" y="2907373"/>
                </a:lnTo>
                <a:lnTo>
                  <a:pt x="2697823" y="2907373"/>
                </a:lnTo>
                <a:lnTo>
                  <a:pt x="2689872" y="2894673"/>
                </a:lnTo>
                <a:lnTo>
                  <a:pt x="2682202" y="2881973"/>
                </a:lnTo>
                <a:lnTo>
                  <a:pt x="2674836" y="2881973"/>
                </a:lnTo>
                <a:lnTo>
                  <a:pt x="2667800" y="2869273"/>
                </a:lnTo>
                <a:lnTo>
                  <a:pt x="2661081" y="2856573"/>
                </a:lnTo>
                <a:lnTo>
                  <a:pt x="2654693" y="2856573"/>
                </a:lnTo>
                <a:lnTo>
                  <a:pt x="2648648" y="2843873"/>
                </a:lnTo>
                <a:lnTo>
                  <a:pt x="2642959" y="2831173"/>
                </a:lnTo>
                <a:lnTo>
                  <a:pt x="2637637" y="2818473"/>
                </a:lnTo>
                <a:lnTo>
                  <a:pt x="2632672" y="2818473"/>
                </a:lnTo>
                <a:lnTo>
                  <a:pt x="2620060" y="2780373"/>
                </a:lnTo>
                <a:lnTo>
                  <a:pt x="2613596" y="2754973"/>
                </a:lnTo>
                <a:lnTo>
                  <a:pt x="2610955" y="2754973"/>
                </a:lnTo>
                <a:lnTo>
                  <a:pt x="2605506" y="2716873"/>
                </a:lnTo>
                <a:lnTo>
                  <a:pt x="2603754" y="2678773"/>
                </a:lnTo>
                <a:lnTo>
                  <a:pt x="2603335" y="2678773"/>
                </a:lnTo>
                <a:lnTo>
                  <a:pt x="2602103" y="2666073"/>
                </a:lnTo>
                <a:lnTo>
                  <a:pt x="2600033" y="2653373"/>
                </a:lnTo>
                <a:lnTo>
                  <a:pt x="2597137" y="2653373"/>
                </a:lnTo>
                <a:lnTo>
                  <a:pt x="2593492" y="2640673"/>
                </a:lnTo>
                <a:lnTo>
                  <a:pt x="2589136" y="2640673"/>
                </a:lnTo>
                <a:lnTo>
                  <a:pt x="2584081" y="2627973"/>
                </a:lnTo>
                <a:lnTo>
                  <a:pt x="2578328" y="2627973"/>
                </a:lnTo>
                <a:lnTo>
                  <a:pt x="2285098" y="2335873"/>
                </a:lnTo>
                <a:lnTo>
                  <a:pt x="2280196" y="2323173"/>
                </a:lnTo>
                <a:lnTo>
                  <a:pt x="2275738" y="2323173"/>
                </a:lnTo>
                <a:lnTo>
                  <a:pt x="2271699" y="2310473"/>
                </a:lnTo>
                <a:lnTo>
                  <a:pt x="2268080" y="2310473"/>
                </a:lnTo>
                <a:lnTo>
                  <a:pt x="2264930" y="2297773"/>
                </a:lnTo>
                <a:lnTo>
                  <a:pt x="2262276" y="2297773"/>
                </a:lnTo>
                <a:lnTo>
                  <a:pt x="2260117" y="2285073"/>
                </a:lnTo>
                <a:lnTo>
                  <a:pt x="2258453" y="2285073"/>
                </a:lnTo>
                <a:lnTo>
                  <a:pt x="2257310" y="2272373"/>
                </a:lnTo>
                <a:lnTo>
                  <a:pt x="2256701" y="2259673"/>
                </a:lnTo>
                <a:lnTo>
                  <a:pt x="2257056" y="2246973"/>
                </a:lnTo>
                <a:lnTo>
                  <a:pt x="2258022" y="2246973"/>
                </a:lnTo>
                <a:lnTo>
                  <a:pt x="2259495" y="2234273"/>
                </a:lnTo>
                <a:lnTo>
                  <a:pt x="2261489" y="2234273"/>
                </a:lnTo>
                <a:lnTo>
                  <a:pt x="2263991" y="2221573"/>
                </a:lnTo>
                <a:lnTo>
                  <a:pt x="2266988" y="2221573"/>
                </a:lnTo>
                <a:lnTo>
                  <a:pt x="2270429" y="2208873"/>
                </a:lnTo>
                <a:lnTo>
                  <a:pt x="2274328" y="2208873"/>
                </a:lnTo>
                <a:lnTo>
                  <a:pt x="2278672" y="2196173"/>
                </a:lnTo>
                <a:lnTo>
                  <a:pt x="2283434" y="2196173"/>
                </a:lnTo>
                <a:lnTo>
                  <a:pt x="2288552" y="2183473"/>
                </a:lnTo>
                <a:lnTo>
                  <a:pt x="2299843" y="2183473"/>
                </a:lnTo>
                <a:lnTo>
                  <a:pt x="2305951" y="2170773"/>
                </a:lnTo>
                <a:lnTo>
                  <a:pt x="2339632" y="2170773"/>
                </a:lnTo>
                <a:lnTo>
                  <a:pt x="2346731" y="2158073"/>
                </a:lnTo>
                <a:lnTo>
                  <a:pt x="2398039" y="2158073"/>
                </a:lnTo>
                <a:lnTo>
                  <a:pt x="2409063" y="2170773"/>
                </a:lnTo>
                <a:lnTo>
                  <a:pt x="2430221" y="2170773"/>
                </a:lnTo>
                <a:lnTo>
                  <a:pt x="3073082" y="2500973"/>
                </a:lnTo>
                <a:lnTo>
                  <a:pt x="3323501" y="2742273"/>
                </a:lnTo>
                <a:lnTo>
                  <a:pt x="3446246" y="2627973"/>
                </a:lnTo>
                <a:lnTo>
                  <a:pt x="3334029" y="2513673"/>
                </a:lnTo>
                <a:lnTo>
                  <a:pt x="3818826" y="2513673"/>
                </a:lnTo>
                <a:lnTo>
                  <a:pt x="3818826" y="2335873"/>
                </a:lnTo>
                <a:lnTo>
                  <a:pt x="3144990" y="2335873"/>
                </a:lnTo>
                <a:lnTo>
                  <a:pt x="2797822" y="2158073"/>
                </a:lnTo>
                <a:lnTo>
                  <a:pt x="3992410" y="2158073"/>
                </a:lnTo>
                <a:lnTo>
                  <a:pt x="3992410" y="1992972"/>
                </a:lnTo>
                <a:lnTo>
                  <a:pt x="3971099" y="1992972"/>
                </a:lnTo>
                <a:lnTo>
                  <a:pt x="3878808" y="1662772"/>
                </a:lnTo>
                <a:lnTo>
                  <a:pt x="3876548" y="1662772"/>
                </a:lnTo>
                <a:lnTo>
                  <a:pt x="3874135" y="1650072"/>
                </a:lnTo>
                <a:lnTo>
                  <a:pt x="3871544" y="1650072"/>
                </a:lnTo>
                <a:lnTo>
                  <a:pt x="3868788" y="1637372"/>
                </a:lnTo>
                <a:lnTo>
                  <a:pt x="3865867" y="1624672"/>
                </a:lnTo>
                <a:lnTo>
                  <a:pt x="3862781" y="1624672"/>
                </a:lnTo>
                <a:lnTo>
                  <a:pt x="3859530" y="1611972"/>
                </a:lnTo>
                <a:lnTo>
                  <a:pt x="3856113" y="1611972"/>
                </a:lnTo>
                <a:lnTo>
                  <a:pt x="3852545" y="1599272"/>
                </a:lnTo>
                <a:lnTo>
                  <a:pt x="3848824" y="1599272"/>
                </a:lnTo>
                <a:lnTo>
                  <a:pt x="3844937" y="1586572"/>
                </a:lnTo>
                <a:lnTo>
                  <a:pt x="3840899" y="1586572"/>
                </a:lnTo>
                <a:lnTo>
                  <a:pt x="3836708" y="1573872"/>
                </a:lnTo>
                <a:lnTo>
                  <a:pt x="3832377" y="1573872"/>
                </a:lnTo>
                <a:lnTo>
                  <a:pt x="3827894" y="1561172"/>
                </a:lnTo>
                <a:lnTo>
                  <a:pt x="3823271" y="1548472"/>
                </a:lnTo>
                <a:lnTo>
                  <a:pt x="3813581" y="1548472"/>
                </a:lnTo>
                <a:lnTo>
                  <a:pt x="3808539" y="1535772"/>
                </a:lnTo>
                <a:lnTo>
                  <a:pt x="3803358" y="1535772"/>
                </a:lnTo>
                <a:lnTo>
                  <a:pt x="3798036" y="1523072"/>
                </a:lnTo>
                <a:lnTo>
                  <a:pt x="3792601" y="1523072"/>
                </a:lnTo>
                <a:lnTo>
                  <a:pt x="3790556" y="1518424"/>
                </a:lnTo>
                <a:lnTo>
                  <a:pt x="3790556" y="1992972"/>
                </a:lnTo>
                <a:lnTo>
                  <a:pt x="3334029" y="1992972"/>
                </a:lnTo>
                <a:lnTo>
                  <a:pt x="3446246" y="1878672"/>
                </a:lnTo>
                <a:lnTo>
                  <a:pt x="3323501" y="1751672"/>
                </a:lnTo>
                <a:lnTo>
                  <a:pt x="3088551" y="1992972"/>
                </a:lnTo>
                <a:lnTo>
                  <a:pt x="2257082" y="1992972"/>
                </a:lnTo>
                <a:lnTo>
                  <a:pt x="2244153" y="1980272"/>
                </a:lnTo>
                <a:lnTo>
                  <a:pt x="2219922" y="1980272"/>
                </a:lnTo>
                <a:lnTo>
                  <a:pt x="2208961" y="1967572"/>
                </a:lnTo>
                <a:lnTo>
                  <a:pt x="2203881" y="1967572"/>
                </a:lnTo>
                <a:lnTo>
                  <a:pt x="2194560" y="1954872"/>
                </a:lnTo>
                <a:lnTo>
                  <a:pt x="2190407" y="1954872"/>
                </a:lnTo>
                <a:lnTo>
                  <a:pt x="2183079" y="1942172"/>
                </a:lnTo>
                <a:lnTo>
                  <a:pt x="2179980" y="1929472"/>
                </a:lnTo>
                <a:lnTo>
                  <a:pt x="2174938" y="1916772"/>
                </a:lnTo>
                <a:lnTo>
                  <a:pt x="2173020" y="1916772"/>
                </a:lnTo>
                <a:lnTo>
                  <a:pt x="2170442" y="1904072"/>
                </a:lnTo>
                <a:lnTo>
                  <a:pt x="2169795" y="1891372"/>
                </a:lnTo>
                <a:lnTo>
                  <a:pt x="2169769" y="1878672"/>
                </a:lnTo>
                <a:lnTo>
                  <a:pt x="2170265" y="1878672"/>
                </a:lnTo>
                <a:lnTo>
                  <a:pt x="2172322" y="1865972"/>
                </a:lnTo>
                <a:lnTo>
                  <a:pt x="2173859" y="1865972"/>
                </a:lnTo>
                <a:lnTo>
                  <a:pt x="2177948" y="1853272"/>
                </a:lnTo>
                <a:lnTo>
                  <a:pt x="2180463" y="1840572"/>
                </a:lnTo>
                <a:lnTo>
                  <a:pt x="2186457" y="1827872"/>
                </a:lnTo>
                <a:lnTo>
                  <a:pt x="2189886" y="1827872"/>
                </a:lnTo>
                <a:lnTo>
                  <a:pt x="2197608" y="1815172"/>
                </a:lnTo>
                <a:lnTo>
                  <a:pt x="2201837" y="1815172"/>
                </a:lnTo>
                <a:lnTo>
                  <a:pt x="2211019" y="1802472"/>
                </a:lnTo>
                <a:lnTo>
                  <a:pt x="2231694" y="1802472"/>
                </a:lnTo>
                <a:lnTo>
                  <a:pt x="2242934" y="1789772"/>
                </a:lnTo>
                <a:lnTo>
                  <a:pt x="2254542" y="1789772"/>
                </a:lnTo>
                <a:lnTo>
                  <a:pt x="3517938" y="1586572"/>
                </a:lnTo>
                <a:lnTo>
                  <a:pt x="3580447" y="1586572"/>
                </a:lnTo>
                <a:lnTo>
                  <a:pt x="3588105" y="1599272"/>
                </a:lnTo>
                <a:lnTo>
                  <a:pt x="3617684" y="1599272"/>
                </a:lnTo>
                <a:lnTo>
                  <a:pt x="3624732" y="1611972"/>
                </a:lnTo>
                <a:lnTo>
                  <a:pt x="3638346" y="1611972"/>
                </a:lnTo>
                <a:lnTo>
                  <a:pt x="3644887" y="1624672"/>
                </a:lnTo>
                <a:lnTo>
                  <a:pt x="3657295" y="1624672"/>
                </a:lnTo>
                <a:lnTo>
                  <a:pt x="3663175" y="1637372"/>
                </a:lnTo>
                <a:lnTo>
                  <a:pt x="3668814" y="1637372"/>
                </a:lnTo>
                <a:lnTo>
                  <a:pt x="3674199" y="1650072"/>
                </a:lnTo>
                <a:lnTo>
                  <a:pt x="3679304" y="1650072"/>
                </a:lnTo>
                <a:lnTo>
                  <a:pt x="3684143" y="1662772"/>
                </a:lnTo>
                <a:lnTo>
                  <a:pt x="3688702" y="1662772"/>
                </a:lnTo>
                <a:lnTo>
                  <a:pt x="3692969" y="1675472"/>
                </a:lnTo>
                <a:lnTo>
                  <a:pt x="3696919" y="1675472"/>
                </a:lnTo>
                <a:lnTo>
                  <a:pt x="3700564" y="1688172"/>
                </a:lnTo>
                <a:lnTo>
                  <a:pt x="3703904" y="1688172"/>
                </a:lnTo>
                <a:lnTo>
                  <a:pt x="3706901" y="1700872"/>
                </a:lnTo>
                <a:lnTo>
                  <a:pt x="3709568" y="1700872"/>
                </a:lnTo>
                <a:lnTo>
                  <a:pt x="3711905" y="1713572"/>
                </a:lnTo>
                <a:lnTo>
                  <a:pt x="3790556" y="1992972"/>
                </a:lnTo>
                <a:lnTo>
                  <a:pt x="3790556" y="1518424"/>
                </a:lnTo>
                <a:lnTo>
                  <a:pt x="3787025" y="1510372"/>
                </a:lnTo>
                <a:lnTo>
                  <a:pt x="3781323" y="1510372"/>
                </a:lnTo>
                <a:lnTo>
                  <a:pt x="3775506" y="1497672"/>
                </a:lnTo>
                <a:lnTo>
                  <a:pt x="3763530" y="1497672"/>
                </a:lnTo>
                <a:lnTo>
                  <a:pt x="3757371" y="1484972"/>
                </a:lnTo>
                <a:lnTo>
                  <a:pt x="3751097" y="1484972"/>
                </a:lnTo>
                <a:lnTo>
                  <a:pt x="3744722" y="1472272"/>
                </a:lnTo>
                <a:lnTo>
                  <a:pt x="3731666" y="1472272"/>
                </a:lnTo>
                <a:lnTo>
                  <a:pt x="3724999" y="1459572"/>
                </a:lnTo>
                <a:lnTo>
                  <a:pt x="3704437" y="1459572"/>
                </a:lnTo>
                <a:lnTo>
                  <a:pt x="3697427" y="1446872"/>
                </a:lnTo>
                <a:lnTo>
                  <a:pt x="3675913" y="1446872"/>
                </a:lnTo>
                <a:lnTo>
                  <a:pt x="3668598" y="1434172"/>
                </a:lnTo>
                <a:lnTo>
                  <a:pt x="3638766" y="1434172"/>
                </a:lnTo>
                <a:lnTo>
                  <a:pt x="3631171" y="1421472"/>
                </a:lnTo>
                <a:lnTo>
                  <a:pt x="3490861" y="1421472"/>
                </a:lnTo>
                <a:lnTo>
                  <a:pt x="2227465" y="1624672"/>
                </a:lnTo>
                <a:lnTo>
                  <a:pt x="2182863" y="1624672"/>
                </a:lnTo>
                <a:lnTo>
                  <a:pt x="2175637" y="1637372"/>
                </a:lnTo>
                <a:lnTo>
                  <a:pt x="2154415" y="1637372"/>
                </a:lnTo>
                <a:lnTo>
                  <a:pt x="2147519" y="1650072"/>
                </a:lnTo>
                <a:lnTo>
                  <a:pt x="2127427" y="1650072"/>
                </a:lnTo>
                <a:lnTo>
                  <a:pt x="2120938" y="1662772"/>
                </a:lnTo>
                <a:lnTo>
                  <a:pt x="2108327" y="1662772"/>
                </a:lnTo>
                <a:lnTo>
                  <a:pt x="2102205" y="1675472"/>
                </a:lnTo>
                <a:lnTo>
                  <a:pt x="2101151" y="1675472"/>
                </a:lnTo>
                <a:lnTo>
                  <a:pt x="2101151" y="2158073"/>
                </a:lnTo>
                <a:lnTo>
                  <a:pt x="2094014" y="2183473"/>
                </a:lnTo>
                <a:lnTo>
                  <a:pt x="2088642" y="2208873"/>
                </a:lnTo>
                <a:lnTo>
                  <a:pt x="2085060" y="2221573"/>
                </a:lnTo>
                <a:lnTo>
                  <a:pt x="2083231" y="2246973"/>
                </a:lnTo>
                <a:lnTo>
                  <a:pt x="2083206" y="2272373"/>
                </a:lnTo>
                <a:lnTo>
                  <a:pt x="2084959" y="2297773"/>
                </a:lnTo>
                <a:lnTo>
                  <a:pt x="2088527" y="2310473"/>
                </a:lnTo>
                <a:lnTo>
                  <a:pt x="2093874" y="2335873"/>
                </a:lnTo>
                <a:lnTo>
                  <a:pt x="1848904" y="2335873"/>
                </a:lnTo>
                <a:lnTo>
                  <a:pt x="1718716" y="2246973"/>
                </a:lnTo>
                <a:lnTo>
                  <a:pt x="1848904" y="2158073"/>
                </a:lnTo>
                <a:lnTo>
                  <a:pt x="2101151" y="2158073"/>
                </a:lnTo>
                <a:lnTo>
                  <a:pt x="2101151" y="1675472"/>
                </a:lnTo>
                <a:lnTo>
                  <a:pt x="2096223" y="1675472"/>
                </a:lnTo>
                <a:lnTo>
                  <a:pt x="2090369" y="1688172"/>
                </a:lnTo>
                <a:lnTo>
                  <a:pt x="2079091" y="1688172"/>
                </a:lnTo>
                <a:lnTo>
                  <a:pt x="2073681" y="1700872"/>
                </a:lnTo>
                <a:lnTo>
                  <a:pt x="2068410" y="1700872"/>
                </a:lnTo>
                <a:lnTo>
                  <a:pt x="2063305" y="1713572"/>
                </a:lnTo>
                <a:lnTo>
                  <a:pt x="2058365" y="1713572"/>
                </a:lnTo>
                <a:lnTo>
                  <a:pt x="2053590" y="1726272"/>
                </a:lnTo>
                <a:lnTo>
                  <a:pt x="2048979" y="1726272"/>
                </a:lnTo>
                <a:lnTo>
                  <a:pt x="2044547" y="1738972"/>
                </a:lnTo>
                <a:lnTo>
                  <a:pt x="2040293" y="1738972"/>
                </a:lnTo>
                <a:lnTo>
                  <a:pt x="2036216" y="1751672"/>
                </a:lnTo>
                <a:lnTo>
                  <a:pt x="2032317" y="1751672"/>
                </a:lnTo>
                <a:lnTo>
                  <a:pt x="2028609" y="1764372"/>
                </a:lnTo>
                <a:lnTo>
                  <a:pt x="2025091" y="1764372"/>
                </a:lnTo>
                <a:lnTo>
                  <a:pt x="2021763" y="1777072"/>
                </a:lnTo>
                <a:lnTo>
                  <a:pt x="2018626" y="1777072"/>
                </a:lnTo>
                <a:lnTo>
                  <a:pt x="2015693" y="1789772"/>
                </a:lnTo>
                <a:lnTo>
                  <a:pt x="2012950" y="1789772"/>
                </a:lnTo>
                <a:lnTo>
                  <a:pt x="2010422" y="1802472"/>
                </a:lnTo>
                <a:lnTo>
                  <a:pt x="2008085" y="1815172"/>
                </a:lnTo>
                <a:lnTo>
                  <a:pt x="2005952" y="1815172"/>
                </a:lnTo>
                <a:lnTo>
                  <a:pt x="2004034" y="1827872"/>
                </a:lnTo>
                <a:lnTo>
                  <a:pt x="2002320" y="1827872"/>
                </a:lnTo>
                <a:lnTo>
                  <a:pt x="2000821" y="1840572"/>
                </a:lnTo>
                <a:lnTo>
                  <a:pt x="1999526" y="1840572"/>
                </a:lnTo>
                <a:lnTo>
                  <a:pt x="1998446" y="1853272"/>
                </a:lnTo>
                <a:lnTo>
                  <a:pt x="1997570" y="1865972"/>
                </a:lnTo>
                <a:lnTo>
                  <a:pt x="1996922" y="1865972"/>
                </a:lnTo>
                <a:lnTo>
                  <a:pt x="1996478" y="1878672"/>
                </a:lnTo>
                <a:lnTo>
                  <a:pt x="1996249" y="1878672"/>
                </a:lnTo>
                <a:lnTo>
                  <a:pt x="1996236" y="1891372"/>
                </a:lnTo>
                <a:lnTo>
                  <a:pt x="1996440" y="1904072"/>
                </a:lnTo>
                <a:lnTo>
                  <a:pt x="1996859" y="1904072"/>
                </a:lnTo>
                <a:lnTo>
                  <a:pt x="1997481" y="1916772"/>
                </a:lnTo>
                <a:lnTo>
                  <a:pt x="1998319" y="1929472"/>
                </a:lnTo>
                <a:lnTo>
                  <a:pt x="1999373" y="1929472"/>
                </a:lnTo>
                <a:lnTo>
                  <a:pt x="2000643" y="1942172"/>
                </a:lnTo>
                <a:lnTo>
                  <a:pt x="2002129" y="1942172"/>
                </a:lnTo>
                <a:lnTo>
                  <a:pt x="2003806" y="1954872"/>
                </a:lnTo>
                <a:lnTo>
                  <a:pt x="2005711" y="1954872"/>
                </a:lnTo>
                <a:lnTo>
                  <a:pt x="2007806" y="1967572"/>
                </a:lnTo>
                <a:lnTo>
                  <a:pt x="2010117" y="1980272"/>
                </a:lnTo>
                <a:lnTo>
                  <a:pt x="2012632" y="1980272"/>
                </a:lnTo>
                <a:lnTo>
                  <a:pt x="2015350" y="1992972"/>
                </a:lnTo>
                <a:lnTo>
                  <a:pt x="1785683" y="1992972"/>
                </a:lnTo>
                <a:lnTo>
                  <a:pt x="1774482" y="2005672"/>
                </a:lnTo>
                <a:lnTo>
                  <a:pt x="1511134" y="2183473"/>
                </a:lnTo>
                <a:lnTo>
                  <a:pt x="1500378" y="2183473"/>
                </a:lnTo>
                <a:lnTo>
                  <a:pt x="1495590" y="2196173"/>
                </a:lnTo>
                <a:lnTo>
                  <a:pt x="1493367" y="2196173"/>
                </a:lnTo>
                <a:lnTo>
                  <a:pt x="1489265" y="2208873"/>
                </a:lnTo>
                <a:lnTo>
                  <a:pt x="1484045" y="2208873"/>
                </a:lnTo>
                <a:lnTo>
                  <a:pt x="1482572" y="2221573"/>
                </a:lnTo>
                <a:lnTo>
                  <a:pt x="1478927" y="2221573"/>
                </a:lnTo>
                <a:lnTo>
                  <a:pt x="1477200" y="2234273"/>
                </a:lnTo>
                <a:lnTo>
                  <a:pt x="1476552" y="2234273"/>
                </a:lnTo>
                <a:lnTo>
                  <a:pt x="1475676" y="2246973"/>
                </a:lnTo>
                <a:lnTo>
                  <a:pt x="1475460" y="2246973"/>
                </a:lnTo>
                <a:lnTo>
                  <a:pt x="1475460" y="2259673"/>
                </a:lnTo>
                <a:lnTo>
                  <a:pt x="1476552" y="2259673"/>
                </a:lnTo>
                <a:lnTo>
                  <a:pt x="1477200" y="2272373"/>
                </a:lnTo>
                <a:lnTo>
                  <a:pt x="1480007" y="2272373"/>
                </a:lnTo>
                <a:lnTo>
                  <a:pt x="1482572" y="2285073"/>
                </a:lnTo>
                <a:lnTo>
                  <a:pt x="1484045" y="2285073"/>
                </a:lnTo>
                <a:lnTo>
                  <a:pt x="1487411" y="2297773"/>
                </a:lnTo>
                <a:lnTo>
                  <a:pt x="1493367" y="2297773"/>
                </a:lnTo>
                <a:lnTo>
                  <a:pt x="1495590" y="2310473"/>
                </a:lnTo>
                <a:lnTo>
                  <a:pt x="1502918" y="2310473"/>
                </a:lnTo>
                <a:lnTo>
                  <a:pt x="1508315" y="2323173"/>
                </a:lnTo>
                <a:lnTo>
                  <a:pt x="1511134" y="2323173"/>
                </a:lnTo>
                <a:lnTo>
                  <a:pt x="1774482" y="2500973"/>
                </a:lnTo>
                <a:lnTo>
                  <a:pt x="1797443" y="2500973"/>
                </a:lnTo>
                <a:lnTo>
                  <a:pt x="1809762" y="2513673"/>
                </a:lnTo>
                <a:lnTo>
                  <a:pt x="2220633" y="2513673"/>
                </a:lnTo>
                <a:lnTo>
                  <a:pt x="2431618" y="2716873"/>
                </a:lnTo>
                <a:lnTo>
                  <a:pt x="2433142" y="2742273"/>
                </a:lnTo>
                <a:lnTo>
                  <a:pt x="2435237" y="2754973"/>
                </a:lnTo>
                <a:lnTo>
                  <a:pt x="2437904" y="2767673"/>
                </a:lnTo>
                <a:lnTo>
                  <a:pt x="2441130" y="2780373"/>
                </a:lnTo>
                <a:lnTo>
                  <a:pt x="2444915" y="2805773"/>
                </a:lnTo>
                <a:lnTo>
                  <a:pt x="2449258" y="2818473"/>
                </a:lnTo>
                <a:lnTo>
                  <a:pt x="2454135" y="2831173"/>
                </a:lnTo>
                <a:lnTo>
                  <a:pt x="2459571" y="2843873"/>
                </a:lnTo>
                <a:lnTo>
                  <a:pt x="2465540" y="2869273"/>
                </a:lnTo>
                <a:lnTo>
                  <a:pt x="2486583" y="2907373"/>
                </a:lnTo>
                <a:lnTo>
                  <a:pt x="2512136" y="2945473"/>
                </a:lnTo>
                <a:lnTo>
                  <a:pt x="2541955" y="2983573"/>
                </a:lnTo>
                <a:lnTo>
                  <a:pt x="2575687" y="3021673"/>
                </a:lnTo>
                <a:lnTo>
                  <a:pt x="2612948" y="3059773"/>
                </a:lnTo>
                <a:lnTo>
                  <a:pt x="2626106" y="3072473"/>
                </a:lnTo>
                <a:lnTo>
                  <a:pt x="2639568" y="3072473"/>
                </a:lnTo>
                <a:lnTo>
                  <a:pt x="2653347" y="3085173"/>
                </a:lnTo>
                <a:lnTo>
                  <a:pt x="2667457" y="3097873"/>
                </a:lnTo>
                <a:lnTo>
                  <a:pt x="2681833" y="3097873"/>
                </a:lnTo>
                <a:lnTo>
                  <a:pt x="2696464" y="3110573"/>
                </a:lnTo>
                <a:lnTo>
                  <a:pt x="2711348" y="3110573"/>
                </a:lnTo>
                <a:lnTo>
                  <a:pt x="2726474" y="3123273"/>
                </a:lnTo>
                <a:lnTo>
                  <a:pt x="2864116" y="3174073"/>
                </a:lnTo>
                <a:lnTo>
                  <a:pt x="2864116" y="3872573"/>
                </a:lnTo>
                <a:lnTo>
                  <a:pt x="2699702" y="4202773"/>
                </a:lnTo>
                <a:lnTo>
                  <a:pt x="2695727" y="4215473"/>
                </a:lnTo>
                <a:lnTo>
                  <a:pt x="2692908" y="4228173"/>
                </a:lnTo>
                <a:lnTo>
                  <a:pt x="2691231" y="4240873"/>
                </a:lnTo>
                <a:lnTo>
                  <a:pt x="2690545" y="4240873"/>
                </a:lnTo>
                <a:lnTo>
                  <a:pt x="2690545" y="5206073"/>
                </a:lnTo>
                <a:lnTo>
                  <a:pt x="2864116" y="5206073"/>
                </a:lnTo>
                <a:lnTo>
                  <a:pt x="2864116" y="4329773"/>
                </a:lnTo>
                <a:lnTo>
                  <a:pt x="3992410" y="4329773"/>
                </a:lnTo>
                <a:lnTo>
                  <a:pt x="3992410" y="5206073"/>
                </a:lnTo>
                <a:lnTo>
                  <a:pt x="4165993" y="5206073"/>
                </a:lnTo>
                <a:lnTo>
                  <a:pt x="4165993" y="4329773"/>
                </a:lnTo>
                <a:lnTo>
                  <a:pt x="4165993" y="4240873"/>
                </a:lnTo>
                <a:lnTo>
                  <a:pt x="4165308" y="4240873"/>
                </a:lnTo>
                <a:lnTo>
                  <a:pt x="4163631" y="4228173"/>
                </a:lnTo>
                <a:lnTo>
                  <a:pt x="4160799" y="4215473"/>
                </a:lnTo>
                <a:lnTo>
                  <a:pt x="4156824" y="4202773"/>
                </a:lnTo>
                <a:lnTo>
                  <a:pt x="4137863" y="4164673"/>
                </a:lnTo>
                <a:lnTo>
                  <a:pt x="4049331" y="3986873"/>
                </a:lnTo>
                <a:lnTo>
                  <a:pt x="3992410" y="3872573"/>
                </a:lnTo>
                <a:lnTo>
                  <a:pt x="3992410" y="3809073"/>
                </a:lnTo>
                <a:lnTo>
                  <a:pt x="3992410" y="2513673"/>
                </a:lnTo>
                <a:lnTo>
                  <a:pt x="4290987" y="2513673"/>
                </a:lnTo>
                <a:lnTo>
                  <a:pt x="4297299" y="2500973"/>
                </a:lnTo>
                <a:lnTo>
                  <a:pt x="4340504" y="2500973"/>
                </a:lnTo>
                <a:lnTo>
                  <a:pt x="4346499" y="2488273"/>
                </a:lnTo>
                <a:lnTo>
                  <a:pt x="4369854" y="2488273"/>
                </a:lnTo>
                <a:lnTo>
                  <a:pt x="4375531" y="2475573"/>
                </a:lnTo>
                <a:lnTo>
                  <a:pt x="4392092" y="2475573"/>
                </a:lnTo>
                <a:lnTo>
                  <a:pt x="4397438" y="2462873"/>
                </a:lnTo>
                <a:lnTo>
                  <a:pt x="4407890" y="2462873"/>
                </a:lnTo>
                <a:lnTo>
                  <a:pt x="4412983" y="2450173"/>
                </a:lnTo>
                <a:lnTo>
                  <a:pt x="4422864" y="2450173"/>
                </a:lnTo>
                <a:lnTo>
                  <a:pt x="4427639" y="2437473"/>
                </a:lnTo>
                <a:lnTo>
                  <a:pt x="4436897" y="2437473"/>
                </a:lnTo>
                <a:lnTo>
                  <a:pt x="4441368" y="2424773"/>
                </a:lnTo>
                <a:lnTo>
                  <a:pt x="4449940" y="2424773"/>
                </a:lnTo>
                <a:lnTo>
                  <a:pt x="4454055" y="2412073"/>
                </a:lnTo>
                <a:lnTo>
                  <a:pt x="4458055" y="2412073"/>
                </a:lnTo>
                <a:lnTo>
                  <a:pt x="4461929" y="2399373"/>
                </a:lnTo>
                <a:lnTo>
                  <a:pt x="4469282" y="2399373"/>
                </a:lnTo>
                <a:lnTo>
                  <a:pt x="4472762" y="2386673"/>
                </a:lnTo>
                <a:lnTo>
                  <a:pt x="4476115" y="2386673"/>
                </a:lnTo>
                <a:lnTo>
                  <a:pt x="4479341" y="2373973"/>
                </a:lnTo>
                <a:lnTo>
                  <a:pt x="4482414" y="2373973"/>
                </a:lnTo>
                <a:lnTo>
                  <a:pt x="4485360" y="2361273"/>
                </a:lnTo>
                <a:lnTo>
                  <a:pt x="4490821" y="2361273"/>
                </a:lnTo>
                <a:lnTo>
                  <a:pt x="4493349" y="2348573"/>
                </a:lnTo>
                <a:lnTo>
                  <a:pt x="4495711" y="2348573"/>
                </a:lnTo>
                <a:lnTo>
                  <a:pt x="4497946" y="2335873"/>
                </a:lnTo>
                <a:lnTo>
                  <a:pt x="4500016" y="2335873"/>
                </a:lnTo>
                <a:lnTo>
                  <a:pt x="4501947" y="2323173"/>
                </a:lnTo>
                <a:lnTo>
                  <a:pt x="4503737" y="2323173"/>
                </a:lnTo>
                <a:lnTo>
                  <a:pt x="4505363" y="2310473"/>
                </a:lnTo>
                <a:lnTo>
                  <a:pt x="4506836" y="2310473"/>
                </a:lnTo>
                <a:lnTo>
                  <a:pt x="4508157" y="2297773"/>
                </a:lnTo>
                <a:lnTo>
                  <a:pt x="4509325" y="2297773"/>
                </a:lnTo>
                <a:lnTo>
                  <a:pt x="4510341" y="2285073"/>
                </a:lnTo>
                <a:lnTo>
                  <a:pt x="4511205" y="2285073"/>
                </a:lnTo>
                <a:lnTo>
                  <a:pt x="4511903" y="2272373"/>
                </a:lnTo>
                <a:lnTo>
                  <a:pt x="4512462" y="2272373"/>
                </a:lnTo>
                <a:lnTo>
                  <a:pt x="4512856" y="2259673"/>
                </a:lnTo>
                <a:lnTo>
                  <a:pt x="4513084" y="2259673"/>
                </a:lnTo>
                <a:lnTo>
                  <a:pt x="4513161" y="2246973"/>
                </a:lnTo>
                <a:close/>
              </a:path>
            </a:pathLst>
          </a:custGeom>
          <a:solidFill>
            <a:srgbClr val="3B3A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346221" y="1171258"/>
            <a:ext cx="5228590" cy="861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50"/>
              <a:t>CONTENTS</a:t>
            </a:r>
            <a:endParaRPr sz="5450"/>
          </a:p>
        </p:txBody>
      </p:sp>
      <p:sp>
        <p:nvSpPr>
          <p:cNvPr id="65" name="Google Shape;65;p9"/>
          <p:cNvSpPr txBox="1"/>
          <p:nvPr/>
        </p:nvSpPr>
        <p:spPr>
          <a:xfrm>
            <a:off x="7212743" y="1523235"/>
            <a:ext cx="29979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Verdana"/>
              <a:buAutoNum type="arabicPeriod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Introduction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7212738" y="2483085"/>
            <a:ext cx="6298565" cy="6633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-467994" lvl="0" marL="518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Verdana"/>
              <a:buAutoNum type="arabicPeriod" startAt="2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Background of the Problem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SzPts val="3200"/>
              <a:buFont typeface="Verdana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466090" lvl="0" marL="5181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Verdana"/>
              <a:buAutoNum type="arabicPeriod" startAt="2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Proposed Approach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SzPts val="3200"/>
              <a:buFont typeface="Verdana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506094" lvl="0" marL="518794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3200"/>
              <a:buFont typeface="Verdana"/>
              <a:buAutoNum type="arabicPeriod" startAt="2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Related Works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SzPts val="3200"/>
              <a:buFont typeface="Verdana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466725" lvl="0" marL="5181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Verdana"/>
              <a:buAutoNum type="arabicPeriod" startAt="2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Methodology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SzPts val="3200"/>
              <a:buFont typeface="Verdana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484505" lvl="0" marL="5181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Verdana"/>
              <a:buAutoNum type="arabicPeriod" startAt="2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Experiment Details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SzPts val="3200"/>
              <a:buFont typeface="Verdana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476250" lvl="0" marL="5181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Verdana"/>
              <a:buAutoNum type="arabicPeriod" startAt="2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Results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SzPts val="3200"/>
              <a:buFont typeface="Verdana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496570" lvl="0" marL="5181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Verdana"/>
              <a:buAutoNum type="arabicPeriod" startAt="2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Conclusion</a:t>
            </a:r>
            <a:endParaRPr sz="3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1585026" y="33263"/>
            <a:ext cx="15720403" cy="141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7675">
            <a:spAutoFit/>
          </a:bodyPr>
          <a:lstStyle/>
          <a:p>
            <a:pPr indent="0" lvl="0" marL="4177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72" name="Google Shape;72;p10"/>
          <p:cNvSpPr txBox="1"/>
          <p:nvPr/>
        </p:nvSpPr>
        <p:spPr>
          <a:xfrm>
            <a:off x="727050" y="1761200"/>
            <a:ext cx="16833900" cy="6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44500" lvl="0" marL="457200" marR="105156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SzPts val="3400"/>
              <a:buFont typeface="Verdana"/>
              <a:buChar char="●"/>
            </a:pPr>
            <a:r>
              <a:rPr lang="en-US" sz="3400">
                <a:latin typeface="Verdana"/>
                <a:ea typeface="Verdana"/>
                <a:cs typeface="Verdana"/>
                <a:sym typeface="Verdana"/>
              </a:rPr>
              <a:t>Electrocardiography (ECG) is a widely used medical tool for recording the heart beat. It helps in diagnosing heart conditions like arrhythmia, where the heart beats irregularly. </a:t>
            </a:r>
            <a:endParaRPr sz="3400">
              <a:latin typeface="Verdana"/>
              <a:ea typeface="Verdana"/>
              <a:cs typeface="Verdana"/>
              <a:sym typeface="Verdana"/>
            </a:endParaRPr>
          </a:p>
          <a:p>
            <a:pPr indent="-444500" lvl="0" marL="457200" marR="105156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SzPts val="3400"/>
              <a:buFont typeface="Verdana"/>
              <a:buChar char="●"/>
            </a:pPr>
            <a:r>
              <a:rPr lang="en-US" sz="3400">
                <a:latin typeface="Verdana"/>
                <a:ea typeface="Verdana"/>
                <a:cs typeface="Verdana"/>
                <a:sym typeface="Verdana"/>
              </a:rPr>
              <a:t>Arrhythmias can be life-threatening if not detected early, leading to symptoms like chest pain, dizziness, and shortness of breath. Accurate and fast diagnosis is critical for proper treatment.</a:t>
            </a:r>
            <a:endParaRPr sz="3400">
              <a:latin typeface="Verdana"/>
              <a:ea typeface="Verdana"/>
              <a:cs typeface="Verdana"/>
              <a:sym typeface="Verdana"/>
            </a:endParaRPr>
          </a:p>
          <a:p>
            <a:pPr indent="-444500" lvl="0" marL="457200" marR="105156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SzPts val="3400"/>
              <a:buFont typeface="Verdana"/>
              <a:buChar char="●"/>
            </a:pPr>
            <a:r>
              <a:rPr lang="en-US" sz="3400">
                <a:latin typeface="Verdana"/>
                <a:ea typeface="Verdana"/>
                <a:cs typeface="Verdana"/>
                <a:sym typeface="Verdana"/>
              </a:rPr>
              <a:t>Traditional approaches require manual data preparation and feature extraction. This process is time-consuming. </a:t>
            </a:r>
            <a:endParaRPr sz="3400">
              <a:latin typeface="Verdana"/>
              <a:ea typeface="Verdana"/>
              <a:cs typeface="Verdana"/>
              <a:sym typeface="Verdana"/>
            </a:endParaRPr>
          </a:p>
          <a:p>
            <a:pPr indent="-444500" lvl="0" marL="457200" marR="105156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SzPts val="3400"/>
              <a:buFont typeface="Verdana"/>
              <a:buChar char="●"/>
            </a:pPr>
            <a:r>
              <a:rPr lang="en-US" sz="3400">
                <a:latin typeface="Verdana"/>
                <a:ea typeface="Verdana"/>
                <a:cs typeface="Verdana"/>
                <a:sym typeface="Verdana"/>
              </a:rPr>
              <a:t>To address this, a new model, Attention-Based Convolutional Neural Networks (ABCNN), is introduced, which works directly with raw ECG data, improving the accuracy and efficiency of arrhythmia detection​</a:t>
            </a:r>
            <a:endParaRPr sz="34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1585026" y="33263"/>
            <a:ext cx="15720403" cy="141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475">
            <a:spAutoFit/>
          </a:bodyPr>
          <a:lstStyle/>
          <a:p>
            <a:pPr indent="0" lvl="0" marL="100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BACKGROUND OF THE PROBLEM</a:t>
            </a:r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685050" y="2019125"/>
            <a:ext cx="16917900" cy="6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Detecting arrhythmias is primarily done using Electrocardiograms (ECG), which measures the activity of the heartbeat. However, traditional methods of diagnosing arrhythmia face several challenges:</a:t>
            </a:r>
            <a:endParaRPr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Manual Feature Extraction</a:t>
            </a:r>
            <a:r>
              <a:rPr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Requires extensive domain knowledge to manually identify important parts of the ECG, making the process slow and prone to errors.</a:t>
            </a:r>
            <a:endParaRPr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Complex ECG Data</a:t>
            </a:r>
            <a:r>
              <a:rPr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Variability in ECG signals between patients makes arrhythmia detection difficult.</a:t>
            </a:r>
            <a:endParaRPr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Real-Time Processing</a:t>
            </a:r>
            <a:r>
              <a:rPr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Traditional methods struggle to meet the demand for real-time analysis.</a:t>
            </a:r>
            <a:endParaRPr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Imbalance</a:t>
            </a:r>
            <a:r>
              <a:rPr lang="en-US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Some arrhythmias are rare, making it harder to train machine learning models effectively.</a:t>
            </a:r>
            <a:endParaRPr sz="30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1585026" y="33263"/>
            <a:ext cx="15720403" cy="141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7675">
            <a:spAutoFit/>
          </a:bodyPr>
          <a:lstStyle/>
          <a:p>
            <a:pPr indent="0" lvl="0" marL="2841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PROPOSED APPROACH</a:t>
            </a:r>
            <a:endParaRPr/>
          </a:p>
        </p:txBody>
      </p:sp>
      <p:sp>
        <p:nvSpPr>
          <p:cNvPr id="84" name="Google Shape;84;p12"/>
          <p:cNvSpPr txBox="1"/>
          <p:nvPr/>
        </p:nvSpPr>
        <p:spPr>
          <a:xfrm>
            <a:off x="714300" y="2295125"/>
            <a:ext cx="16859400" cy="6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43815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paper presents a new model called </a:t>
            </a:r>
            <a:r>
              <a:rPr b="1" lang="en-US" sz="3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Attention-Based Convolutional Neural Network (ABCNN)</a:t>
            </a:r>
            <a:r>
              <a:rPr lang="en-US" sz="3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detect irregular heartbeats (arrhythmias) from ECG data.</a:t>
            </a:r>
            <a:endParaRPr sz="3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44500" lvl="0" marL="457200" marR="43815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SzPts val="3400"/>
              <a:buFont typeface="Verdana"/>
              <a:buChar char="●"/>
            </a:pPr>
            <a:r>
              <a:rPr lang="en-US" sz="3400">
                <a:latin typeface="Verdana"/>
                <a:ea typeface="Verdana"/>
                <a:cs typeface="Verdana"/>
                <a:sym typeface="Verdana"/>
              </a:rPr>
              <a:t>ABCNN automatically focuses on the most important parts of the ECG signal, which helps in detecting arrhythmias more accurately.</a:t>
            </a:r>
            <a:endParaRPr sz="3400">
              <a:latin typeface="Verdana"/>
              <a:ea typeface="Verdana"/>
              <a:cs typeface="Verdana"/>
              <a:sym typeface="Verdana"/>
            </a:endParaRPr>
          </a:p>
          <a:p>
            <a:pPr indent="-444500" lvl="0" marL="457200" marR="536575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SzPts val="3400"/>
              <a:buFont typeface="Verdana"/>
              <a:buChar char="●"/>
            </a:pPr>
            <a:r>
              <a:rPr lang="en-US" sz="3400"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lang="en-US" sz="3400">
                <a:latin typeface="Verdana"/>
                <a:ea typeface="Verdana"/>
                <a:cs typeface="Verdana"/>
                <a:sym typeface="Verdana"/>
              </a:rPr>
              <a:t>he model can work directly with the raw ECG data, so there’s no need to manually pick out features from the signal, saving time and effort.</a:t>
            </a:r>
            <a:endParaRPr sz="3400">
              <a:latin typeface="Verdana"/>
              <a:ea typeface="Verdana"/>
              <a:cs typeface="Verdana"/>
              <a:sym typeface="Verdana"/>
            </a:endParaRPr>
          </a:p>
          <a:p>
            <a:pPr indent="-444500" lvl="0" marL="457200" marR="508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SzPts val="3400"/>
              <a:buFont typeface="Verdana"/>
              <a:buChar char="●"/>
            </a:pPr>
            <a:r>
              <a:rPr lang="en-US" sz="3400">
                <a:latin typeface="Verdana"/>
                <a:ea typeface="Verdana"/>
                <a:cs typeface="Verdana"/>
                <a:sym typeface="Verdana"/>
              </a:rPr>
              <a:t>It uses a method called “multi-head attention” to look at different parts of the ECG signal, which helps the model understand the data better.</a:t>
            </a:r>
            <a:endParaRPr sz="3400">
              <a:latin typeface="Verdana"/>
              <a:ea typeface="Verdana"/>
              <a:cs typeface="Verdana"/>
              <a:sym typeface="Verdana"/>
            </a:endParaRPr>
          </a:p>
          <a:p>
            <a:pPr indent="-444500" lvl="0" marL="457200" marR="262509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SzPts val="3400"/>
              <a:buFont typeface="Verdana"/>
              <a:buChar char="●"/>
            </a:pPr>
            <a:r>
              <a:rPr lang="en-US" sz="3400">
                <a:latin typeface="Verdana"/>
                <a:ea typeface="Verdana"/>
                <a:cs typeface="Verdana"/>
                <a:sym typeface="Verdana"/>
              </a:rPr>
              <a:t>The model is able to find and identify different types of irregular heartbeats.</a:t>
            </a:r>
            <a:endParaRPr sz="34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1563875" y="283622"/>
            <a:ext cx="15720300" cy="17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2875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RELATED 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736874" y="1958254"/>
            <a:ext cx="16893600" cy="46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2068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Traditional Machine Learning Approaches</a:t>
            </a:r>
            <a:r>
              <a:rPr b="0" lang="en-US" sz="3300">
                <a:latin typeface="Arial"/>
                <a:ea typeface="Arial"/>
                <a:cs typeface="Arial"/>
                <a:sym typeface="Arial"/>
              </a:rPr>
              <a:t>:</a:t>
            </a:r>
            <a:endParaRPr b="0" sz="3300"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b="0" lang="en-US" sz="3300">
                <a:latin typeface="Arial"/>
                <a:ea typeface="Arial"/>
                <a:cs typeface="Arial"/>
                <a:sym typeface="Arial"/>
              </a:rPr>
              <a:t>Models like SVM, Random Forest required manual feature extraction from ECG signals.</a:t>
            </a:r>
            <a:endParaRPr b="0" sz="3300"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b="0" lang="en-US" sz="3300">
                <a:latin typeface="Arial"/>
                <a:ea typeface="Arial"/>
                <a:cs typeface="Arial"/>
                <a:sym typeface="Arial"/>
              </a:rPr>
              <a:t>Labor-intensive and dependent on domain knowledge.</a:t>
            </a:r>
            <a:endParaRPr b="0"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Deep Learning Approaches</a:t>
            </a:r>
            <a:r>
              <a:rPr b="0" lang="en-US" sz="3300">
                <a:latin typeface="Arial"/>
                <a:ea typeface="Arial"/>
                <a:cs typeface="Arial"/>
                <a:sym typeface="Arial"/>
              </a:rPr>
              <a:t>:</a:t>
            </a:r>
            <a:endParaRPr b="0" sz="3300"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b="0" lang="en-US" sz="3300">
                <a:latin typeface="Arial"/>
                <a:ea typeface="Arial"/>
                <a:cs typeface="Arial"/>
                <a:sym typeface="Arial"/>
              </a:rPr>
              <a:t>CNNs improved ECG analysis by automating feature extraction.</a:t>
            </a:r>
            <a:endParaRPr b="0" sz="3300"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b="0" lang="en-US" sz="3300">
                <a:latin typeface="Arial"/>
                <a:ea typeface="Arial"/>
                <a:cs typeface="Arial"/>
                <a:sym typeface="Arial"/>
              </a:rPr>
              <a:t>LSTMs were used for temporal dependencies but were computationally expensive.</a:t>
            </a:r>
            <a:endParaRPr b="0" sz="3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1585026" y="33263"/>
            <a:ext cx="15720300" cy="8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736875" y="2422775"/>
            <a:ext cx="16893600" cy="52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4635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700"/>
              <a:buFont typeface="Calibri"/>
              <a:buChar char="●"/>
            </a:pPr>
            <a:r>
              <a:rPr b="0" lang="en-US" sz="3700">
                <a:latin typeface="Calibri"/>
                <a:ea typeface="Calibri"/>
                <a:cs typeface="Calibri"/>
                <a:sym typeface="Calibri"/>
              </a:rPr>
              <a:t>ABCNN combines Convolutional Neural Networks (CNN) with attention mechanisms to enhance heart arrhythmia detection from raw ECG signals.</a:t>
            </a:r>
            <a:endParaRPr b="0" sz="3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70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lang="en-US" sz="3700">
                <a:latin typeface="Calibri"/>
                <a:ea typeface="Calibri"/>
                <a:cs typeface="Calibri"/>
                <a:sym typeface="Calibri"/>
              </a:rPr>
              <a:t>Key Components:</a:t>
            </a:r>
            <a:endParaRPr b="0" sz="3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US" sz="3700">
                <a:latin typeface="Calibri"/>
                <a:ea typeface="Calibri"/>
                <a:cs typeface="Calibri"/>
                <a:sym typeface="Calibri"/>
              </a:rPr>
              <a:t>- CNN for feature extraction.</a:t>
            </a:r>
            <a:endParaRPr b="0" sz="3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US" sz="3700">
                <a:latin typeface="Calibri"/>
                <a:ea typeface="Calibri"/>
                <a:cs typeface="Calibri"/>
                <a:sym typeface="Calibri"/>
              </a:rPr>
              <a:t>- Attention mechanism to highlight important ECG segments (e.g., QRS complex).</a:t>
            </a:r>
            <a:endParaRPr b="0" sz="3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US" sz="3700">
                <a:latin typeface="Calibri"/>
                <a:ea typeface="Calibri"/>
                <a:cs typeface="Calibri"/>
                <a:sym typeface="Calibri"/>
              </a:rPr>
              <a:t>- Fully connected layers for final classification.</a:t>
            </a:r>
            <a:endParaRPr b="0" sz="3700">
              <a:latin typeface="Calibri"/>
              <a:ea typeface="Calibri"/>
              <a:cs typeface="Calibri"/>
              <a:sym typeface="Calibri"/>
            </a:endParaRPr>
          </a:p>
          <a:p>
            <a:pPr indent="-4635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700"/>
              <a:buFont typeface="Calibri"/>
              <a:buChar char="●"/>
            </a:pPr>
            <a:r>
              <a:rPr b="0" lang="en-US" sz="3700">
                <a:latin typeface="Calibri"/>
                <a:ea typeface="Calibri"/>
                <a:cs typeface="Calibri"/>
                <a:sym typeface="Calibri"/>
              </a:rPr>
              <a:t>Key Advantage: No manual feature extraction is required.</a:t>
            </a:r>
            <a:endParaRPr b="0" sz="3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1585026" y="33263"/>
            <a:ext cx="15720300" cy="8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411725" y="1989600"/>
            <a:ext cx="16893600" cy="805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469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800"/>
              <a:buFont typeface="Calibri"/>
              <a:buChar char="➔"/>
            </a:pPr>
            <a:r>
              <a:rPr b="0" lang="en-US" sz="3800">
                <a:latin typeface="Calibri"/>
                <a:ea typeface="Calibri"/>
                <a:cs typeface="Calibri"/>
                <a:sym typeface="Calibri"/>
              </a:rPr>
              <a:t>The ABCNN architecture is structured as follows:</a:t>
            </a:r>
            <a:endParaRPr b="0"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3800"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Input Layer:</a:t>
            </a:r>
            <a:r>
              <a:rPr b="0" lang="en-US" sz="3200">
                <a:latin typeface="Arial"/>
                <a:ea typeface="Arial"/>
                <a:cs typeface="Arial"/>
                <a:sym typeface="Arial"/>
              </a:rPr>
              <a:t> The raw ECG signal is provided as a [2, 240] matrix, where there are 2 channels and 240 time points.</a:t>
            </a:r>
            <a:endParaRPr b="0"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Attention Layer:</a:t>
            </a:r>
            <a:r>
              <a:rPr b="0" lang="en-US" sz="3200">
                <a:latin typeface="Arial"/>
                <a:ea typeface="Arial"/>
                <a:cs typeface="Arial"/>
                <a:sym typeface="Arial"/>
              </a:rPr>
              <a:t> Computes attention weights for each time point, highlighting the most important parts (like the QRS complex), enhancing arrhythmia detection by focusing on key signal segments.</a:t>
            </a:r>
            <a:endParaRPr b="0"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First Convolutional and Pooling Layers:</a:t>
            </a:r>
            <a:r>
              <a:rPr b="0" lang="en-US" sz="3200">
                <a:latin typeface="Arial"/>
                <a:ea typeface="Arial"/>
                <a:cs typeface="Arial"/>
                <a:sym typeface="Arial"/>
              </a:rPr>
              <a:t> The first convolutional layer extracts local features, while the first pooling layer reduces dimensionality via max pooling, making the model more efficient.</a:t>
            </a:r>
            <a:endParaRPr b="0"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Second Convolutional and Pooling Layers:</a:t>
            </a:r>
            <a:r>
              <a:rPr b="0" lang="en-US" sz="3200">
                <a:latin typeface="Arial"/>
                <a:ea typeface="Arial"/>
                <a:cs typeface="Arial"/>
                <a:sym typeface="Arial"/>
              </a:rPr>
              <a:t> A second convolution extracts deeper features, and the second pooling layer further reduces feature map size.</a:t>
            </a:r>
            <a:endParaRPr b="0"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Fully Connected Layers:</a:t>
            </a:r>
            <a:r>
              <a:rPr b="0" lang="en-US" sz="3200">
                <a:latin typeface="Arial"/>
                <a:ea typeface="Arial"/>
                <a:cs typeface="Arial"/>
                <a:sym typeface="Arial"/>
              </a:rPr>
              <a:t> Flattened features are passed through two fully connected layers for complex pattern learning and final prediction.</a:t>
            </a:r>
            <a:endParaRPr b="0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3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1585026" y="33263"/>
            <a:ext cx="15720403" cy="141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350">
            <a:spAutoFit/>
          </a:bodyPr>
          <a:lstStyle/>
          <a:p>
            <a:pPr indent="0" lvl="0" marL="35458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6072270" y="7760553"/>
            <a:ext cx="49626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2953975" y="1851375"/>
            <a:ext cx="1298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</a:rPr>
              <a:t>Multi-Head Attention Mechanism in ABCNN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446025" y="3119975"/>
            <a:ext cx="16859400" cy="50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76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Char char="●"/>
            </a:pP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Multi-head Attention is Important: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ECG signals contain segments with varying importance (e.g., QRS complex).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</a:rPr>
              <a:t>   </a:t>
            </a: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Traditional models treat all segments equally, missing critical features.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76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Char char="●"/>
            </a:pP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Multi-Head Attention: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</a:rPr>
              <a:t>  </a:t>
            </a: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Multiple attention heads capture different patterns from various signal sections.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</a:rPr>
              <a:t>  </a:t>
            </a: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Each head focuses on specific parts of the signal (e.g., the QRS complex).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Outputs from all heads are combined to enhance classification 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1585026" y="33263"/>
            <a:ext cx="15720300" cy="8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545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4571525" y="8613275"/>
            <a:ext cx="85254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50"/>
              <a:t>Workflow</a:t>
            </a:r>
            <a:r>
              <a:rPr b="0" lang="en-US" sz="2750"/>
              <a:t> of ABCNN</a:t>
            </a:r>
            <a:endParaRPr b="0" sz="2750"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925" y="3113900"/>
            <a:ext cx="15478151" cy="464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1585026" y="33263"/>
            <a:ext cx="157203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5600">
            <a:spAutoFit/>
          </a:bodyPr>
          <a:lstStyle/>
          <a:p>
            <a:pPr indent="0" lvl="0" marL="277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EXPERIMENTAL DETAILS</a:t>
            </a:r>
            <a:endParaRPr sz="4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5590306" y="8945037"/>
            <a:ext cx="71076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475850" y="1687900"/>
            <a:ext cx="16452900" cy="82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</a:t>
            </a:r>
            <a:r>
              <a:rPr b="1"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Dataset</a:t>
            </a: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Char char="●"/>
            </a:pP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MIT-BIH Heart Arrhythmia dataset</a:t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Char char="●"/>
            </a:pP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4,000 recordings from 47 patients</a:t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Char char="●"/>
            </a:pP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heartbeat represented by 240 sampling slices</a:t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Char char="●"/>
            </a:pP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Split into 80% training and 20% testing sets</a:t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2.Data Preprocessing:</a:t>
            </a:r>
            <a:endParaRPr b="1"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Char char="●"/>
            </a:pP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Standard z-score normalization applied to prevent scale variations</a:t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b="1"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Model Architecture:</a:t>
            </a:r>
            <a:endParaRPr b="1"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Char char="●"/>
            </a:pP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ABCNN model</a:t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Char char="●"/>
            </a:pP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Multi-head attention layer to focus on important segments (e.g., QRS complex)</a:t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Char char="●"/>
            </a:pP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convolutional layers, two pooling layers, two fully connected layers</a:t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Char char="●"/>
            </a:pPr>
            <a:r>
              <a:rPr lang="en-US" sz="2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Five-node classifier for arrhythmia classification</a:t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1585026" y="33263"/>
            <a:ext cx="157203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5600">
            <a:spAutoFit/>
          </a:bodyPr>
          <a:lstStyle/>
          <a:p>
            <a:pPr indent="0" lvl="0" marL="277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EXPERIMENTAL DETAILS</a:t>
            </a:r>
            <a:endParaRPr sz="4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5590306" y="8945037"/>
            <a:ext cx="71076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623050" y="2227600"/>
            <a:ext cx="163056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b="1" lang="en-US" sz="1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-US" sz="25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Training Procedure:</a:t>
            </a:r>
            <a:endParaRPr b="1" sz="25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905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Tahoma"/>
              <a:buChar char="●"/>
            </a:pPr>
            <a:r>
              <a:rPr lang="en-US" sz="25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Evaluated different activation functions over 100 and 500 epochs.</a:t>
            </a:r>
            <a:endParaRPr sz="25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905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Tahoma"/>
              <a:buChar char="●"/>
            </a:pPr>
            <a:r>
              <a:rPr b="1" lang="en-US" sz="255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ABCNN</a:t>
            </a:r>
            <a:r>
              <a:rPr lang="en-US" sz="25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outperformed traditional machine learning models like SVM and RF, achieving an AUC of 98.96%</a:t>
            </a:r>
            <a:endParaRPr sz="25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/>
          <p:nvPr/>
        </p:nvSpPr>
        <p:spPr>
          <a:xfrm>
            <a:off x="0" y="11"/>
            <a:ext cx="18288000" cy="1741805"/>
          </a:xfrm>
          <a:custGeom>
            <a:rect b="b" l="l" r="r" t="t"/>
            <a:pathLst>
              <a:path extrusionOk="0" h="1741805" w="18288000">
                <a:moveTo>
                  <a:pt x="18287988" y="77063"/>
                </a:moveTo>
                <a:lnTo>
                  <a:pt x="18286375" y="77063"/>
                </a:lnTo>
                <a:lnTo>
                  <a:pt x="18286375" y="0"/>
                </a:lnTo>
                <a:lnTo>
                  <a:pt x="0" y="0"/>
                </a:lnTo>
                <a:lnTo>
                  <a:pt x="0" y="1588833"/>
                </a:lnTo>
                <a:lnTo>
                  <a:pt x="41833" y="1588833"/>
                </a:lnTo>
                <a:lnTo>
                  <a:pt x="41833" y="1741233"/>
                </a:lnTo>
                <a:lnTo>
                  <a:pt x="18287988" y="1741233"/>
                </a:lnTo>
                <a:lnTo>
                  <a:pt x="18287988" y="77063"/>
                </a:lnTo>
                <a:close/>
              </a:path>
            </a:pathLst>
          </a:custGeom>
          <a:solidFill>
            <a:srgbClr val="EFED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0" y="33275"/>
            <a:ext cx="18288000" cy="14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11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RESULTS</a:t>
            </a:r>
            <a:endParaRPr b="1"/>
          </a:p>
        </p:txBody>
      </p:sp>
      <p:sp>
        <p:nvSpPr>
          <p:cNvPr id="138" name="Google Shape;138;p20"/>
          <p:cNvSpPr txBox="1"/>
          <p:nvPr/>
        </p:nvSpPr>
        <p:spPr>
          <a:xfrm>
            <a:off x="361375" y="2031350"/>
            <a:ext cx="16272600" cy="9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7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Tahoma"/>
              <a:buChar char="●"/>
            </a:pPr>
            <a:r>
              <a:rPr b="1"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 Accuracy</a:t>
            </a:r>
            <a:r>
              <a:rPr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ABCNN achieved an AUC of 98.96%, outperforming traditional models.</a:t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7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Tahoma"/>
              <a:buChar char="●"/>
            </a:pPr>
            <a:r>
              <a:rPr b="1"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Class-wise Performance</a:t>
            </a:r>
            <a:r>
              <a:rPr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Strong performance for common arrhythmias, but lower accuracy for rare types like fusion beats.</a:t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7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Tahoma"/>
              <a:buChar char="●"/>
            </a:pPr>
            <a:r>
              <a:rPr b="1"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Effective Attention</a:t>
            </a:r>
            <a:r>
              <a:rPr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attention layer improved detection by focusing on crucial ECG segments.</a:t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7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Tahoma"/>
              <a:buChar char="●"/>
            </a:pPr>
            <a:r>
              <a:rPr b="1"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Real-time Feasibility</a:t>
            </a:r>
            <a:r>
              <a:rPr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Inference time under 0.1 seconds makes it practical for real-world use.</a:t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1585026" y="33263"/>
            <a:ext cx="15720403" cy="141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750">
            <a:spAutoFit/>
          </a:bodyPr>
          <a:lstStyle/>
          <a:p>
            <a:pPr indent="0" lvl="0" marL="5671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7070"/>
            <a:ext cx="17999201" cy="741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1585026" y="33263"/>
            <a:ext cx="15720300" cy="17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r>
              <a:rPr lang="en-US"/>
              <a:t>RESULTS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406557"/>
            <a:ext cx="18135600" cy="7473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>
            <a:off x="0" y="0"/>
            <a:ext cx="18286730" cy="1664335"/>
          </a:xfrm>
          <a:custGeom>
            <a:rect b="b" l="l" r="r" t="t"/>
            <a:pathLst>
              <a:path extrusionOk="0" h="1664335" w="18286730">
                <a:moveTo>
                  <a:pt x="18286424" y="1664175"/>
                </a:moveTo>
                <a:lnTo>
                  <a:pt x="0" y="1664175"/>
                </a:lnTo>
                <a:lnTo>
                  <a:pt x="0" y="0"/>
                </a:lnTo>
                <a:lnTo>
                  <a:pt x="18286424" y="0"/>
                </a:lnTo>
                <a:lnTo>
                  <a:pt x="18286424" y="1664175"/>
                </a:lnTo>
                <a:close/>
              </a:path>
            </a:pathLst>
          </a:custGeom>
          <a:solidFill>
            <a:srgbClr val="EFED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>
            <p:ph type="title"/>
          </p:nvPr>
        </p:nvSpPr>
        <p:spPr>
          <a:xfrm>
            <a:off x="1585026" y="33263"/>
            <a:ext cx="15720403" cy="141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750">
            <a:spAutoFit/>
          </a:bodyPr>
          <a:lstStyle/>
          <a:p>
            <a:pPr indent="0" lvl="0" marL="46716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58" name="Google Shape;158;p23"/>
          <p:cNvSpPr txBox="1"/>
          <p:nvPr/>
        </p:nvSpPr>
        <p:spPr>
          <a:xfrm>
            <a:off x="979948" y="2817013"/>
            <a:ext cx="16949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4604" rtl="0" algn="l">
              <a:lnSpc>
                <a:spcPct val="1167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59525" y="2232400"/>
            <a:ext cx="16240200" cy="5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47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Tahoma"/>
              <a:buChar char="●"/>
            </a:pPr>
            <a:r>
              <a:rPr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ABCNN effectively diagnoses heart arrhythmias, outperforming traditional models.</a:t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7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Tahoma"/>
              <a:buChar char="●"/>
            </a:pPr>
            <a:r>
              <a:rPr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Attention mechanism improves accuracy by focusing on critical ECG segments.</a:t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7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Tahoma"/>
              <a:buChar char="●"/>
            </a:pPr>
            <a:r>
              <a:rPr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 AUC score (98.96%) demonstrates superior performance.</a:t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47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Tahoma"/>
              <a:buChar char="●"/>
            </a:pPr>
            <a:r>
              <a:rPr lang="en-US" sz="34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Real-time capability makes ABCNN suitable for clinical deployment.</a:t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D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6410952" y="4302431"/>
            <a:ext cx="68268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/>
              <a:t>THANK YOU</a:t>
            </a:r>
            <a:endParaRPr sz="7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